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9" r:id="rId11"/>
    <p:sldId id="262" r:id="rId12"/>
    <p:sldId id="263" r:id="rId13"/>
    <p:sldId id="264" r:id="rId14"/>
    <p:sldId id="265" r:id="rId15"/>
    <p:sldId id="270" r:id="rId16"/>
  </p:sldIdLst>
  <p:sldSz cx="14630400" cy="8229600"/>
  <p:notesSz cx="8229600" cy="14630400"/>
  <p:embeddedFontLst>
    <p:embeddedFont>
      <p:font typeface="Instrument Sans Medium" panose="020B0604020202020204" charset="0"/>
      <p:regular r:id="rId18"/>
    </p:embeddedFont>
    <p:embeddedFont>
      <p:font typeface="Inter" panose="020B0604020202020204" charset="0"/>
      <p:regular r:id="rId19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90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90" y="179558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Form— Role-Based Survey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90589" y="4307681"/>
            <a:ext cx="7556421" cy="46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Sarmad Qadeer — BC220410808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90590" y="490946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explains the design, architecture, and user flows for AccessForm: a secure, role-aware web platform for building, sharing, and analyzing surveys.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598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113121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339935"/>
            <a:ext cx="29683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data collection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2830354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Time-consuming, error-prone, and hard to scale.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11312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23399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gaps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283035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consistent authentication or access control for sensitive responses.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37268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4599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 &amp; storage issues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08992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role management and unstructured storage make analysis difficult.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29769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Replace manual processes with a secure, role-based, structured survey platform.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335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Overview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13961"/>
            <a:ext cx="883920" cy="546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54200" y="3113961"/>
            <a:ext cx="198758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4114800"/>
            <a:ext cx="18805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JWT-based sign-up / login flow with protected routes and role claims.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113961"/>
            <a:ext cx="883920" cy="546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3113961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Form Builder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3958709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editor for multiple question types: text, multiple choice, checkbox, rating, file upload.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113961"/>
            <a:ext cx="883920" cy="546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3113961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Survey Sharing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3958709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Shareable links and access control so respondents register then respond.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113961"/>
            <a:ext cx="883920" cy="546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3113961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Response Management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3958709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dashboard: preview, edit, analytics, delete, and copy link for each form.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5000" y="521017"/>
            <a:ext cx="3687008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Flow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00" y="1281470"/>
            <a:ext cx="12720399" cy="5724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71096" y="1545012"/>
            <a:ext cx="2226065" cy="34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Landing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871096" y="1986862"/>
            <a:ext cx="2226065" cy="498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sees main page and navbar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3711" y="3078681"/>
            <a:ext cx="493067" cy="4930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2699" y="5838138"/>
            <a:ext cx="2238296" cy="34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Register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072699" y="6279988"/>
            <a:ext cx="2238296" cy="49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account with basic details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5314" y="4876657"/>
            <a:ext cx="493067" cy="4930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49840" y="1502203"/>
            <a:ext cx="2226066" cy="34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249840" y="1944053"/>
            <a:ext cx="2226066" cy="498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to access role options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59148" y="3029756"/>
            <a:ext cx="493067" cy="4930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51443" y="5838138"/>
            <a:ext cx="2226066" cy="34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9451443" y="6279988"/>
            <a:ext cx="2226066" cy="49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Creator or Respondent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24057" y="4876657"/>
            <a:ext cx="493068" cy="4930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5000" y="7174111"/>
            <a:ext cx="12720399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 maps the primary navigation: visitors see a large landing page (navbar: Home, About, Contact, Settings, Login, Register). After registering they log in; role determines dashboard and available actions.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E5947D47-A62E-A5F1-FE55-991E3570DC14}"/>
              </a:ext>
            </a:extLst>
          </p:cNvPr>
          <p:cNvGrpSpPr/>
          <p:nvPr/>
        </p:nvGrpSpPr>
        <p:grpSpPr>
          <a:xfrm>
            <a:off x="177800" y="190500"/>
            <a:ext cx="12661900" cy="7759700"/>
            <a:chOff x="201176" y="1017508"/>
            <a:chExt cx="8005048" cy="6194584"/>
          </a:xfrm>
        </p:grpSpPr>
        <p:sp>
          <p:nvSpPr>
            <p:cNvPr id="3" name="Text 0"/>
            <p:cNvSpPr/>
            <p:nvPr/>
          </p:nvSpPr>
          <p:spPr>
            <a:xfrm>
              <a:off x="607576" y="1017508"/>
              <a:ext cx="3472339" cy="4339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400"/>
                </a:lnSpc>
                <a:buNone/>
              </a:pPr>
              <a:r>
                <a:rPr lang="en-US" sz="2700" dirty="0">
                  <a:solidFill>
                    <a:srgbClr val="EFD5FA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Creator Workflow</a:t>
              </a:r>
              <a:endParaRPr lang="en-US" sz="270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A361652-AD98-D293-E522-9BFD6671F8C2}"/>
                </a:ext>
              </a:extLst>
            </p:cNvPr>
            <p:cNvGrpSpPr/>
            <p:nvPr/>
          </p:nvGrpSpPr>
          <p:grpSpPr>
            <a:xfrm>
              <a:off x="201176" y="1672471"/>
              <a:ext cx="8005048" cy="5539621"/>
              <a:chOff x="531376" y="1672471"/>
              <a:chExt cx="8005048" cy="5539621"/>
            </a:xfrm>
          </p:grpSpPr>
          <p:pic>
            <p:nvPicPr>
              <p:cNvPr id="12" name="Image 3" descr="preencoded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07576" y="4199692"/>
                <a:ext cx="173593" cy="173593"/>
              </a:xfrm>
              <a:prstGeom prst="rect">
                <a:avLst/>
              </a:prstGeom>
            </p:spPr>
          </p:pic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8A9B7A56-88CA-1D42-43BE-1443F3983A59}"/>
                  </a:ext>
                </a:extLst>
              </p:cNvPr>
              <p:cNvGrpSpPr/>
              <p:nvPr/>
            </p:nvGrpSpPr>
            <p:grpSpPr>
              <a:xfrm>
                <a:off x="531376" y="1672471"/>
                <a:ext cx="8005048" cy="5539621"/>
                <a:chOff x="531376" y="1672471"/>
                <a:chExt cx="8005048" cy="5539621"/>
              </a:xfrm>
            </p:grpSpPr>
            <p:pic>
              <p:nvPicPr>
                <p:cNvPr id="4" name="Image 1" descr="preencoded.png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7576" y="1672471"/>
                  <a:ext cx="173593" cy="173593"/>
                </a:xfrm>
                <a:prstGeom prst="rect">
                  <a:avLst/>
                </a:prstGeom>
              </p:spPr>
            </p:pic>
            <p:sp>
              <p:nvSpPr>
                <p:cNvPr id="5" name="Shape 1"/>
                <p:cNvSpPr/>
                <p:nvPr/>
              </p:nvSpPr>
              <p:spPr>
                <a:xfrm>
                  <a:off x="531376" y="1922859"/>
                  <a:ext cx="7928848" cy="22860"/>
                </a:xfrm>
                <a:prstGeom prst="rect">
                  <a:avLst/>
                </a:prstGeom>
                <a:solidFill>
                  <a:srgbClr val="FDC4C4"/>
                </a:solidFill>
                <a:ln/>
              </p:spPr>
            </p:sp>
            <p:sp>
              <p:nvSpPr>
                <p:cNvPr id="6" name="Text 2"/>
                <p:cNvSpPr/>
                <p:nvPr/>
              </p:nvSpPr>
              <p:spPr>
                <a:xfrm>
                  <a:off x="607576" y="2055376"/>
                  <a:ext cx="2170152" cy="27122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100"/>
                    </a:lnSpc>
                    <a:buNone/>
                  </a:pPr>
                  <a:r>
                    <a:rPr lang="en-US" sz="1700" dirty="0">
                      <a:solidFill>
                        <a:srgbClr val="C7CDD6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Create</a:t>
                  </a:r>
                  <a:endParaRPr lang="en-US" sz="1700" dirty="0"/>
                </a:p>
              </p:txBody>
            </p:sp>
            <p:sp>
              <p:nvSpPr>
                <p:cNvPr id="7" name="Text 3"/>
                <p:cNvSpPr/>
                <p:nvPr/>
              </p:nvSpPr>
              <p:spPr>
                <a:xfrm>
                  <a:off x="607576" y="2406253"/>
                  <a:ext cx="7928848" cy="24515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900"/>
                    </a:lnSpc>
                    <a:buNone/>
                  </a:pPr>
                  <a:r>
                    <a:rPr lang="en-US" sz="1350" dirty="0">
                      <a:solidFill>
                        <a:srgbClr val="C7CDD6"/>
                      </a:solidFill>
                      <a:latin typeface="Inter" pitchFamily="34" charset="0"/>
                      <a:ea typeface="Inter" pitchFamily="34" charset="-122"/>
                      <a:cs typeface="Inter" pitchFamily="34" charset="-120"/>
                    </a:rPr>
                    <a:t>From dashboard, click "Create Form" to open the form builder page.</a:t>
                  </a:r>
                  <a:endParaRPr lang="en-US" sz="1350" dirty="0"/>
                </a:p>
              </p:txBody>
            </p:sp>
            <p:pic>
              <p:nvPicPr>
                <p:cNvPr id="8" name="Image 2" descr="preencoded.png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7576" y="2936081"/>
                  <a:ext cx="173593" cy="173593"/>
                </a:xfrm>
                <a:prstGeom prst="rect">
                  <a:avLst/>
                </a:prstGeom>
              </p:spPr>
            </p:pic>
            <p:sp>
              <p:nvSpPr>
                <p:cNvPr id="9" name="Shape 4"/>
                <p:cNvSpPr/>
                <p:nvPr/>
              </p:nvSpPr>
              <p:spPr>
                <a:xfrm>
                  <a:off x="607576" y="3186470"/>
                  <a:ext cx="7928848" cy="22860"/>
                </a:xfrm>
                <a:prstGeom prst="rect">
                  <a:avLst/>
                </a:prstGeom>
                <a:solidFill>
                  <a:srgbClr val="FDC4C4"/>
                </a:solidFill>
                <a:ln/>
              </p:spPr>
            </p:sp>
            <p:sp>
              <p:nvSpPr>
                <p:cNvPr id="10" name="Text 5"/>
                <p:cNvSpPr/>
                <p:nvPr/>
              </p:nvSpPr>
              <p:spPr>
                <a:xfrm>
                  <a:off x="607576" y="3318986"/>
                  <a:ext cx="2170152" cy="27122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100"/>
                    </a:lnSpc>
                    <a:buNone/>
                  </a:pPr>
                  <a:r>
                    <a:rPr lang="en-US" sz="1700" dirty="0">
                      <a:solidFill>
                        <a:srgbClr val="C7CDD6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Save</a:t>
                  </a:r>
                  <a:endParaRPr lang="en-US" sz="1700" dirty="0"/>
                </a:p>
              </p:txBody>
            </p:sp>
            <p:sp>
              <p:nvSpPr>
                <p:cNvPr id="11" name="Text 6"/>
                <p:cNvSpPr/>
                <p:nvPr/>
              </p:nvSpPr>
              <p:spPr>
                <a:xfrm>
                  <a:off x="607576" y="3669863"/>
                  <a:ext cx="7928848" cy="24515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900"/>
                    </a:lnSpc>
                    <a:buNone/>
                  </a:pPr>
                  <a:r>
                    <a:rPr lang="en-US" sz="1350" dirty="0">
                      <a:solidFill>
                        <a:srgbClr val="C7CDD6"/>
                      </a:solidFill>
                      <a:latin typeface="Inter" pitchFamily="34" charset="0"/>
                      <a:ea typeface="Inter" pitchFamily="34" charset="-122"/>
                      <a:cs typeface="Inter" pitchFamily="34" charset="-120"/>
                    </a:rPr>
                    <a:t>Save drafts or publish forms; saved forms appear as cards on the dashboard.</a:t>
                  </a:r>
                  <a:endParaRPr lang="en-US" sz="1350" dirty="0"/>
                </a:p>
              </p:txBody>
            </p:sp>
            <p:sp>
              <p:nvSpPr>
                <p:cNvPr id="13" name="Shape 7"/>
                <p:cNvSpPr/>
                <p:nvPr/>
              </p:nvSpPr>
              <p:spPr>
                <a:xfrm>
                  <a:off x="607576" y="4450080"/>
                  <a:ext cx="7928848" cy="22860"/>
                </a:xfrm>
                <a:prstGeom prst="rect">
                  <a:avLst/>
                </a:prstGeom>
                <a:solidFill>
                  <a:srgbClr val="FDC4C4"/>
                </a:solidFill>
                <a:ln/>
              </p:spPr>
            </p:sp>
            <p:sp>
              <p:nvSpPr>
                <p:cNvPr id="14" name="Text 8"/>
                <p:cNvSpPr/>
                <p:nvPr/>
              </p:nvSpPr>
              <p:spPr>
                <a:xfrm>
                  <a:off x="607576" y="4582597"/>
                  <a:ext cx="2170152" cy="27122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100"/>
                    </a:lnSpc>
                    <a:buNone/>
                  </a:pPr>
                  <a:r>
                    <a:rPr lang="en-US" sz="1700" dirty="0">
                      <a:solidFill>
                        <a:srgbClr val="C7CDD6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Share</a:t>
                  </a:r>
                  <a:endParaRPr lang="en-US" sz="1700" dirty="0"/>
                </a:p>
              </p:txBody>
            </p:sp>
            <p:sp>
              <p:nvSpPr>
                <p:cNvPr id="15" name="Text 9"/>
                <p:cNvSpPr/>
                <p:nvPr/>
              </p:nvSpPr>
              <p:spPr>
                <a:xfrm>
                  <a:off x="607576" y="4933474"/>
                  <a:ext cx="7928848" cy="24515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900"/>
                    </a:lnSpc>
                    <a:buNone/>
                  </a:pPr>
                  <a:r>
                    <a:rPr lang="en-US" sz="1350" dirty="0">
                      <a:solidFill>
                        <a:srgbClr val="C7CDD6"/>
                      </a:solidFill>
                      <a:latin typeface="Inter" pitchFamily="34" charset="0"/>
                      <a:ea typeface="Inter" pitchFamily="34" charset="-122"/>
                      <a:cs typeface="Inter" pitchFamily="34" charset="-120"/>
                    </a:rPr>
                    <a:t>Use "Copy link" or direct share. Set link permissions if needed.</a:t>
                  </a:r>
                  <a:endParaRPr lang="en-US" sz="1350" dirty="0"/>
                </a:p>
              </p:txBody>
            </p:sp>
            <p:pic>
              <p:nvPicPr>
                <p:cNvPr id="16" name="Image 4" descr="preencoded.png"/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7576" y="5463302"/>
                  <a:ext cx="173593" cy="173593"/>
                </a:xfrm>
                <a:prstGeom prst="rect">
                  <a:avLst/>
                </a:prstGeom>
              </p:spPr>
            </p:pic>
            <p:sp>
              <p:nvSpPr>
                <p:cNvPr id="17" name="Shape 10"/>
                <p:cNvSpPr/>
                <p:nvPr/>
              </p:nvSpPr>
              <p:spPr>
                <a:xfrm>
                  <a:off x="607576" y="5713690"/>
                  <a:ext cx="7928848" cy="22860"/>
                </a:xfrm>
                <a:prstGeom prst="rect">
                  <a:avLst/>
                </a:prstGeom>
                <a:solidFill>
                  <a:srgbClr val="FDC4C4"/>
                </a:solidFill>
                <a:ln/>
              </p:spPr>
            </p:sp>
            <p:sp>
              <p:nvSpPr>
                <p:cNvPr id="18" name="Text 11"/>
                <p:cNvSpPr/>
                <p:nvPr/>
              </p:nvSpPr>
              <p:spPr>
                <a:xfrm>
                  <a:off x="607576" y="5846207"/>
                  <a:ext cx="2170152" cy="27122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100"/>
                    </a:lnSpc>
                    <a:buNone/>
                  </a:pPr>
                  <a:r>
                    <a:rPr lang="en-US" sz="1700" dirty="0">
                      <a:solidFill>
                        <a:srgbClr val="C7CDD6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Manage</a:t>
                  </a:r>
                  <a:endParaRPr lang="en-US" sz="1700" dirty="0"/>
                </a:p>
              </p:txBody>
            </p:sp>
            <p:sp>
              <p:nvSpPr>
                <p:cNvPr id="19" name="Text 12"/>
                <p:cNvSpPr/>
                <p:nvPr/>
              </p:nvSpPr>
              <p:spPr>
                <a:xfrm>
                  <a:off x="607576" y="6197084"/>
                  <a:ext cx="7928848" cy="24515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900"/>
                    </a:lnSpc>
                    <a:buNone/>
                  </a:pPr>
                  <a:r>
                    <a:rPr lang="en-US" sz="1350" dirty="0">
                      <a:solidFill>
                        <a:srgbClr val="C7CDD6"/>
                      </a:solidFill>
                      <a:latin typeface="Inter" pitchFamily="34" charset="0"/>
                      <a:ea typeface="Inter" pitchFamily="34" charset="-122"/>
                      <a:cs typeface="Inter" pitchFamily="34" charset="-120"/>
                    </a:rPr>
                    <a:t>Preview, Edit, View Analytics, Delete, or Copy Link from each form card.</a:t>
                  </a:r>
                  <a:endParaRPr lang="en-US" sz="1350" dirty="0"/>
                </a:p>
              </p:txBody>
            </p:sp>
            <p:sp>
              <p:nvSpPr>
                <p:cNvPr id="20" name="Text 13"/>
                <p:cNvSpPr/>
                <p:nvPr/>
              </p:nvSpPr>
              <p:spPr>
                <a:xfrm>
                  <a:off x="607576" y="6721793"/>
                  <a:ext cx="7928848" cy="49029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1900"/>
                    </a:lnSpc>
                    <a:buNone/>
                  </a:pPr>
                  <a:r>
                    <a:rPr lang="en-US" sz="1350" dirty="0">
                      <a:solidFill>
                        <a:srgbClr val="C7CDD6"/>
                      </a:solidFill>
                      <a:latin typeface="Inter" pitchFamily="34" charset="0"/>
                      <a:ea typeface="Inter" pitchFamily="34" charset="-122"/>
                      <a:cs typeface="Inter" pitchFamily="34" charset="-120"/>
                    </a:rPr>
                    <a:t>After Save, creators return to dashboard where each form card exposes quick actions and analytics access.</a:t>
                  </a:r>
                  <a:endParaRPr lang="en-US" sz="1350" dirty="0"/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1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2C3610-A96D-993E-A021-736C22433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18" y="0"/>
            <a:ext cx="14639018" cy="831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0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51141-D90C-084C-3D86-5CC5B914B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70" y="0"/>
            <a:ext cx="1463786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39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886A4A9-3902-99F0-B816-1A8DF0C57EC2}"/>
              </a:ext>
            </a:extLst>
          </p:cNvPr>
          <p:cNvGrpSpPr/>
          <p:nvPr/>
        </p:nvGrpSpPr>
        <p:grpSpPr>
          <a:xfrm>
            <a:off x="254000" y="368300"/>
            <a:ext cx="13794423" cy="7289800"/>
            <a:chOff x="6068378" y="1053584"/>
            <a:chExt cx="7980045" cy="6122432"/>
          </a:xfrm>
        </p:grpSpPr>
        <p:sp>
          <p:nvSpPr>
            <p:cNvPr id="3" name="Text 0"/>
            <p:cNvSpPr/>
            <p:nvPr/>
          </p:nvSpPr>
          <p:spPr>
            <a:xfrm>
              <a:off x="6068378" y="1053584"/>
              <a:ext cx="3326130" cy="4157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2600" dirty="0">
                  <a:solidFill>
                    <a:srgbClr val="EFD5FA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Survey Builder</a:t>
              </a:r>
              <a:endParaRPr lang="en-US" sz="260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6068378" y="1652230"/>
              <a:ext cx="7980045" cy="46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Builder supports modular question types and drag-and-drop ordering. Each question includes validation rules, required toggles, and optional branching logic for advanced surveys.</a:t>
              </a:r>
              <a:endParaRPr lang="en-US" sz="1300" dirty="0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68378" y="2250638"/>
              <a:ext cx="332542" cy="332542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068378" y="2735580"/>
              <a:ext cx="2078831" cy="2597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6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Short / Long Text</a:t>
              </a:r>
              <a:endParaRPr lang="en-US" sz="16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6068378" y="3068479"/>
              <a:ext cx="7980045" cy="2306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Open-ended responses with character limits.</a:t>
              </a:r>
              <a:endParaRPr lang="en-US" sz="1300" dirty="0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8378" y="3542943"/>
              <a:ext cx="332542" cy="332542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6068378" y="4027884"/>
              <a:ext cx="2078831" cy="2597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6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Multiple Choice</a:t>
              </a:r>
              <a:endParaRPr lang="en-US" sz="16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6068378" y="4360783"/>
              <a:ext cx="7980045" cy="2306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Single-select or multi-select with custom options.</a:t>
              </a:r>
              <a:endParaRPr lang="en-US" sz="1300" dirty="0"/>
            </a:p>
          </p:txBody>
        </p:sp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68378" y="4835247"/>
              <a:ext cx="332542" cy="332542"/>
            </a:xfrm>
            <a:prstGeom prst="rect">
              <a:avLst/>
            </a:prstGeom>
          </p:spPr>
        </p:pic>
        <p:sp>
          <p:nvSpPr>
            <p:cNvPr id="12" name="Text 6"/>
            <p:cNvSpPr/>
            <p:nvPr/>
          </p:nvSpPr>
          <p:spPr>
            <a:xfrm>
              <a:off x="6068378" y="5320189"/>
              <a:ext cx="2078831" cy="2597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6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Ratings</a:t>
              </a:r>
              <a:endParaRPr lang="en-US" sz="1600" dirty="0"/>
            </a:p>
          </p:txBody>
        </p:sp>
        <p:sp>
          <p:nvSpPr>
            <p:cNvPr id="13" name="Text 7"/>
            <p:cNvSpPr/>
            <p:nvPr/>
          </p:nvSpPr>
          <p:spPr>
            <a:xfrm>
              <a:off x="6068378" y="5653088"/>
              <a:ext cx="7980045" cy="2306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Numeric scales (1–5, 1–10) for quick quantification.</a:t>
              </a:r>
              <a:endParaRPr lang="en-US" sz="1300" dirty="0"/>
            </a:p>
          </p:txBody>
        </p:sp>
        <p:pic>
          <p:nvPicPr>
            <p:cNvPr id="14" name="Image 4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68378" y="6127552"/>
              <a:ext cx="332542" cy="332542"/>
            </a:xfrm>
            <a:prstGeom prst="rect">
              <a:avLst/>
            </a:prstGeom>
          </p:spPr>
        </p:pic>
        <p:sp>
          <p:nvSpPr>
            <p:cNvPr id="15" name="Text 8"/>
            <p:cNvSpPr/>
            <p:nvPr/>
          </p:nvSpPr>
          <p:spPr>
            <a:xfrm>
              <a:off x="6068378" y="6612493"/>
              <a:ext cx="2078831" cy="2597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6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File Upload &amp; Date</a:t>
              </a:r>
              <a:endParaRPr lang="en-US" sz="1600" dirty="0"/>
            </a:p>
          </p:txBody>
        </p:sp>
        <p:sp>
          <p:nvSpPr>
            <p:cNvPr id="16" name="Text 9"/>
            <p:cNvSpPr/>
            <p:nvPr/>
          </p:nvSpPr>
          <p:spPr>
            <a:xfrm>
              <a:off x="6068378" y="6945392"/>
              <a:ext cx="7980045" cy="2306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Collect attachments and structured date inputs.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55C81D-6070-1CF9-045E-532E1A8B6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6" y="0"/>
            <a:ext cx="14600654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4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826" y="1612899"/>
            <a:ext cx="9164274" cy="5016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1228844"/>
            <a:ext cx="420516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Respondent Workflow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9638943" y="2589609"/>
            <a:ext cx="4205168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shared survey link.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(if first time) → Redirect to Login.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→ Route to the survey page tied to the link.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survey → Submit → Confirmation and optional receipt.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5571887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ensures respondents register only once; role-based access prevents creators from accidentally taking their own unpublished tests.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9138" y="480774"/>
            <a:ext cx="3435787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Architecture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138" y="1124426"/>
            <a:ext cx="11272123" cy="60425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5796" y="2279732"/>
            <a:ext cx="1821537" cy="312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45796" y="2680970"/>
            <a:ext cx="1821537" cy="85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Creators and respondents with role and JWT metadata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945796" y="4751024"/>
            <a:ext cx="1821537" cy="312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945796" y="5152262"/>
            <a:ext cx="1821537" cy="64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Belong to surveys; defined in survey schema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853557" y="4751024"/>
            <a:ext cx="1821536" cy="312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Responses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853557" y="5152262"/>
            <a:ext cx="1821536" cy="85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 respondents; linked to survey and question IDs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853557" y="2279732"/>
            <a:ext cx="1821536" cy="312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Surveys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853557" y="2680970"/>
            <a:ext cx="1821536" cy="85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by users; contains question schema and settings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679138" y="7299246"/>
            <a:ext cx="11272123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Atlas stores documents: Users (with role and JWT metadata), Surveys (schema for questions and settings), Responses (linked by surveyId and respondentId). References used for lookups and aggregations.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99686"/>
            <a:ext cx="522315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Implementation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206823"/>
            <a:ext cx="7556421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Authentication: stateless tokens with role claims and expiration.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control: middleware guards creator vs. respondent routes.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routes: server enforces permissions for create/edit/analytics.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Atlas: secure cloud database with IP whitelisting and encrypted storage.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03081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4A030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947172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5886569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HTTPS, rotate secrets, and limit token lifetime for best practice.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468" y="913328"/>
            <a:ext cx="4022527" cy="494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Challenges &amp; Lessons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92468" y="1753195"/>
            <a:ext cx="6536412" cy="3109317"/>
          </a:xfrm>
          <a:prstGeom prst="roundRect">
            <a:avLst>
              <a:gd name="adj" fmla="val 955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3090" y="1973818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3090" y="2386370"/>
            <a:ext cx="6095167" cy="225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debugging across client/server (token refresh, expiration).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routing complexities and authorization edge cases.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MongoDB references vs. embedded documents for performance.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 and environment-specific deployment issues.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01401" y="1753195"/>
            <a:ext cx="6536531" cy="3109317"/>
          </a:xfrm>
          <a:prstGeom prst="roundRect">
            <a:avLst>
              <a:gd name="adj" fmla="val 955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2024" y="1973818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Learning Outcomes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2024" y="2386370"/>
            <a:ext cx="6095286" cy="1959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Full‑stack integration — frontend, backend, DB working together.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and documenting REST APIs and protected endpoints.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design tradeoffs for queries vs. writes.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debugging workflow and deployment readiness.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2468" y="5155584"/>
            <a:ext cx="13245465" cy="32266"/>
          </a:xfrm>
          <a:prstGeom prst="rect">
            <a:avLst/>
          </a:prstGeom>
          <a:solidFill>
            <a:srgbClr val="C7CDD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2468" y="5446633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Work</a:t>
            </a:r>
            <a:endParaRPr lang="en-US" sz="1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68" y="6014561"/>
            <a:ext cx="939641" cy="5806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47850" y="6014561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Analytics Dashboard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847850" y="6427113"/>
            <a:ext cx="3115866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response trends, export CSV, and filter by user segments.</a:t>
            </a:r>
            <a:endParaRPr lang="en-US" sz="15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457" y="6014561"/>
            <a:ext cx="939641" cy="5806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34839" y="6014561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CSV Export &amp; Email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334839" y="6427113"/>
            <a:ext cx="3115985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bulk export and automated notification workflows.</a:t>
            </a:r>
            <a:endParaRPr lang="en-US" sz="15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565" y="6014561"/>
            <a:ext cx="939641" cy="5806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821948" y="6014561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Deployment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0821948" y="6427113"/>
            <a:ext cx="3115985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to cloud (Vercel / Heroku / AWS) and environment hardening.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8756399C-6E48-4784-534A-B1349DE695F7}"/>
              </a:ext>
            </a:extLst>
          </p:cNvPr>
          <p:cNvSpPr/>
          <p:nvPr/>
        </p:nvSpPr>
        <p:spPr>
          <a:xfrm>
            <a:off x="4046994" y="2560141"/>
            <a:ext cx="6536412" cy="3109317"/>
          </a:xfrm>
          <a:prstGeom prst="roundRect">
            <a:avLst>
              <a:gd name="adj" fmla="val 955"/>
            </a:avLst>
          </a:prstGeom>
          <a:solidFill>
            <a:srgbClr val="242429"/>
          </a:solidFill>
          <a:ln w="22860">
            <a:noFill/>
            <a:prstDash val="solid"/>
          </a:ln>
        </p:spPr>
        <p:txBody>
          <a:bodyPr/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Thank You</a:t>
            </a:r>
          </a:p>
          <a:p>
            <a:pPr algn="ctr"/>
            <a:endParaRPr lang="en-PK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45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728</Words>
  <Application>Microsoft Office PowerPoint</Application>
  <PresentationFormat>Custom</PresentationFormat>
  <Paragraphs>101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Sarmad Qadeer</cp:lastModifiedBy>
  <cp:revision>2</cp:revision>
  <dcterms:created xsi:type="dcterms:W3CDTF">2026-03-03T16:13:21Z</dcterms:created>
  <dcterms:modified xsi:type="dcterms:W3CDTF">2026-03-03T17:56:39Z</dcterms:modified>
</cp:coreProperties>
</file>